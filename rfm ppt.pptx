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aramond Bold" charset="1" panose="02020804030307010803"/>
      <p:regular r:id="rId18"/>
    </p:embeddedFont>
    <p:embeddedFont>
      <p:font typeface="Inter Medium" charset="1" panose="02000503000000020004"/>
      <p:regular r:id="rId19"/>
    </p:embeddedFont>
    <p:embeddedFont>
      <p:font typeface="Poppins" charset="1" panose="00000500000000000000"/>
      <p:regular r:id="rId20"/>
    </p:embeddedFont>
    <p:embeddedFont>
      <p:font typeface="Garamond Bold Italics" charset="1" panose="02020804030301090803"/>
      <p:regular r:id="rId21"/>
    </p:embeddedFont>
    <p:embeddedFont>
      <p:font typeface="Poppins Bold" charset="1" panose="00000800000000000000"/>
      <p:regular r:id="rId22"/>
    </p:embeddedFont>
    <p:embeddedFont>
      <p:font typeface="Canva Sans Bold" charset="1" panose="020B0803030501040103"/>
      <p:regular r:id="rId23"/>
    </p:embeddedFont>
    <p:embeddedFont>
      <p:font typeface="Canva Sans" charset="1" panose="020B0503030501040103"/>
      <p:regular r:id="rId24"/>
    </p:embeddedFont>
    <p:embeddedFont>
      <p:font typeface="Poppins Italics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6816" y="4560973"/>
            <a:ext cx="11190578" cy="364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8"/>
              </a:lnSpc>
            </a:pPr>
            <a:r>
              <a:rPr lang="en-US" sz="17744" spc="-745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RFM ANALYSIS</a:t>
            </a:r>
          </a:p>
        </p:txBody>
      </p:sp>
      <p:sp>
        <p:nvSpPr>
          <p:cNvPr name="AutoShape 3" id="3"/>
          <p:cNvSpPr/>
          <p:nvPr/>
        </p:nvSpPr>
        <p:spPr>
          <a:xfrm>
            <a:off x="1164740" y="8203983"/>
            <a:ext cx="8410705" cy="0"/>
          </a:xfrm>
          <a:prstGeom prst="line">
            <a:avLst/>
          </a:prstGeom>
          <a:ln cap="flat" w="38100">
            <a:solidFill>
              <a:srgbClr val="2E40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64740" y="8914971"/>
            <a:ext cx="8410705" cy="0"/>
          </a:xfrm>
          <a:prstGeom prst="line">
            <a:avLst/>
          </a:prstGeom>
          <a:ln cap="flat" w="38100">
            <a:solidFill>
              <a:srgbClr val="2E40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06816" y="1148806"/>
            <a:ext cx="513966" cy="300565"/>
          </a:xfrm>
          <a:custGeom>
            <a:avLst/>
            <a:gdLst/>
            <a:ahLst/>
            <a:cxnLst/>
            <a:rect r="r" b="b" t="t" l="l"/>
            <a:pathLst>
              <a:path h="300565" w="513966">
                <a:moveTo>
                  <a:pt x="0" y="0"/>
                </a:moveTo>
                <a:lnTo>
                  <a:pt x="513966" y="0"/>
                </a:lnTo>
                <a:lnTo>
                  <a:pt x="513966" y="300565"/>
                </a:lnTo>
                <a:lnTo>
                  <a:pt x="0" y="30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04956" y="914374"/>
            <a:ext cx="14268114" cy="8343926"/>
          </a:xfrm>
          <a:custGeom>
            <a:avLst/>
            <a:gdLst/>
            <a:ahLst/>
            <a:cxnLst/>
            <a:rect r="r" b="b" t="t" l="l"/>
            <a:pathLst>
              <a:path h="8343926" w="14268114">
                <a:moveTo>
                  <a:pt x="0" y="0"/>
                </a:moveTo>
                <a:lnTo>
                  <a:pt x="14268114" y="0"/>
                </a:lnTo>
                <a:lnTo>
                  <a:pt x="14268114" y="8343926"/>
                </a:lnTo>
                <a:lnTo>
                  <a:pt x="0" y="8343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4740" y="8251443"/>
            <a:ext cx="9417675" cy="57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17"/>
              </a:lnSpc>
              <a:spcBef>
                <a:spcPct val="0"/>
              </a:spcBef>
            </a:pPr>
            <a:r>
              <a:rPr lang="en-US" b="true" sz="3298" spc="-184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By Niloy Saha (Using python)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1232" y="974264"/>
            <a:ext cx="5248277" cy="5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298" spc="-184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Fauget Skincare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1207" y="-115986"/>
            <a:ext cx="8186793" cy="10402986"/>
            <a:chOff x="0" y="0"/>
            <a:chExt cx="2156192" cy="2739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6192" cy="2739881"/>
            </a:xfrm>
            <a:custGeom>
              <a:avLst/>
              <a:gdLst/>
              <a:ahLst/>
              <a:cxnLst/>
              <a:rect r="r" b="b" t="t" l="l"/>
              <a:pathLst>
                <a:path h="2739881" w="2156192">
                  <a:moveTo>
                    <a:pt x="0" y="0"/>
                  </a:moveTo>
                  <a:lnTo>
                    <a:pt x="2156192" y="0"/>
                  </a:lnTo>
                  <a:lnTo>
                    <a:pt x="2156192" y="2739881"/>
                  </a:lnTo>
                  <a:lnTo>
                    <a:pt x="0" y="2739881"/>
                  </a:lnTo>
                  <a:close/>
                </a:path>
              </a:pathLst>
            </a:custGeom>
            <a:solidFill>
              <a:srgbClr val="CFE2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6192" cy="2777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6816" y="1148806"/>
            <a:ext cx="513966" cy="300565"/>
          </a:xfrm>
          <a:custGeom>
            <a:avLst/>
            <a:gdLst/>
            <a:ahLst/>
            <a:cxnLst/>
            <a:rect r="r" b="b" t="t" l="l"/>
            <a:pathLst>
              <a:path h="300565" w="513966">
                <a:moveTo>
                  <a:pt x="0" y="0"/>
                </a:moveTo>
                <a:lnTo>
                  <a:pt x="513966" y="0"/>
                </a:lnTo>
                <a:lnTo>
                  <a:pt x="513966" y="300565"/>
                </a:lnTo>
                <a:lnTo>
                  <a:pt x="0" y="30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96077" y="0"/>
            <a:ext cx="8191923" cy="10287000"/>
            <a:chOff x="0" y="0"/>
            <a:chExt cx="929525" cy="1167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9525" cy="1167250"/>
            </a:xfrm>
            <a:custGeom>
              <a:avLst/>
              <a:gdLst/>
              <a:ahLst/>
              <a:cxnLst/>
              <a:rect r="r" b="b" t="t" l="l"/>
              <a:pathLst>
                <a:path h="1167250" w="929525">
                  <a:moveTo>
                    <a:pt x="0" y="0"/>
                  </a:moveTo>
                  <a:lnTo>
                    <a:pt x="929525" y="0"/>
                  </a:lnTo>
                  <a:lnTo>
                    <a:pt x="929525" y="1167250"/>
                  </a:lnTo>
                  <a:lnTo>
                    <a:pt x="0" y="1167250"/>
                  </a:lnTo>
                  <a:close/>
                </a:path>
              </a:pathLst>
            </a:custGeom>
            <a:blipFill>
              <a:blip r:embed="rId4"/>
              <a:stretch>
                <a:fillRect l="-12787" t="0" r="-12787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06816" y="3164972"/>
            <a:ext cx="8827336" cy="566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671"/>
              </a:lnSpc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dataset represents transactional data from 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retail/e-commerce business, containi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ng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cus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omer pur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chases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invoi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 detail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and pr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od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uc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t-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level informati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 marL="0" indent="0" lvl="0">
              <a:lnSpc>
                <a:spcPts val="5671"/>
              </a:lnSpc>
            </a:pP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iv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to analyze customer buyin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behavio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using RFM (Rec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ency, F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quency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Monetary) anal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ysi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s.</a:t>
            </a:r>
          </a:p>
          <a:p>
            <a:pPr algn="just" marL="0" indent="0" lvl="0">
              <a:lnSpc>
                <a:spcPts val="5671"/>
              </a:lnSpc>
            </a:pP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hel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ps 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identifying high-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custo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nd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improving 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ss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cisio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n-maki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6816" y="1985863"/>
            <a:ext cx="6968455" cy="113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94"/>
              </a:lnSpc>
              <a:spcBef>
                <a:spcPct val="0"/>
              </a:spcBef>
            </a:pPr>
            <a:r>
              <a:rPr lang="en-US" b="true" sz="10392" i="true" spc="-436">
                <a:solidFill>
                  <a:srgbClr val="000000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1232" y="974264"/>
            <a:ext cx="5248277" cy="5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298" spc="-184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Fauget Skincare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816" y="1148806"/>
            <a:ext cx="513966" cy="300565"/>
          </a:xfrm>
          <a:custGeom>
            <a:avLst/>
            <a:gdLst/>
            <a:ahLst/>
            <a:cxnLst/>
            <a:rect r="r" b="b" t="t" l="l"/>
            <a:pathLst>
              <a:path h="300565" w="513966">
                <a:moveTo>
                  <a:pt x="0" y="0"/>
                </a:moveTo>
                <a:lnTo>
                  <a:pt x="513966" y="0"/>
                </a:lnTo>
                <a:lnTo>
                  <a:pt x="513966" y="300565"/>
                </a:lnTo>
                <a:lnTo>
                  <a:pt x="0" y="30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06816" y="3488219"/>
            <a:ext cx="16230600" cy="357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Businesses often struggle to identify their most v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aluable customers and understand purchasing patterns.</a:t>
            </a:r>
          </a:p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Without segmentation, marketing efforts become inefficient and less targeted.</a:t>
            </a:r>
          </a:p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39" spc="-87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goal is to segment customers based on their purchase behavior and identify key customer groups for strategic decision-making.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50517" y="949724"/>
            <a:ext cx="9080835" cy="113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94"/>
              </a:lnSpc>
              <a:spcBef>
                <a:spcPct val="0"/>
              </a:spcBef>
            </a:pPr>
            <a:r>
              <a:rPr lang="en-US" b="true" sz="10392" i="true" spc="-436">
                <a:solidFill>
                  <a:srgbClr val="000000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81232" y="974264"/>
            <a:ext cx="5248277" cy="5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298" spc="-184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Fauget Skincare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816" y="1148806"/>
            <a:ext cx="513966" cy="300565"/>
          </a:xfrm>
          <a:custGeom>
            <a:avLst/>
            <a:gdLst/>
            <a:ahLst/>
            <a:cxnLst/>
            <a:rect r="r" b="b" t="t" l="l"/>
            <a:pathLst>
              <a:path h="300565" w="513966">
                <a:moveTo>
                  <a:pt x="0" y="0"/>
                </a:moveTo>
                <a:lnTo>
                  <a:pt x="513966" y="0"/>
                </a:lnTo>
                <a:lnTo>
                  <a:pt x="513966" y="300565"/>
                </a:lnTo>
                <a:lnTo>
                  <a:pt x="0" y="30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5338" y="4672083"/>
            <a:ext cx="8573962" cy="2647211"/>
          </a:xfrm>
          <a:custGeom>
            <a:avLst/>
            <a:gdLst/>
            <a:ahLst/>
            <a:cxnLst/>
            <a:rect r="r" b="b" t="t" l="l"/>
            <a:pathLst>
              <a:path h="2647211" w="8573962">
                <a:moveTo>
                  <a:pt x="0" y="0"/>
                </a:moveTo>
                <a:lnTo>
                  <a:pt x="8573962" y="0"/>
                </a:lnTo>
                <a:lnTo>
                  <a:pt x="8573962" y="2647211"/>
                </a:lnTo>
                <a:lnTo>
                  <a:pt x="0" y="2647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106816" y="1550247"/>
            <a:ext cx="16230600" cy="2852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6"/>
              </a:lnSpc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dataset contains transactional data of an online retail business.It inc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ludes customer purchase records, invoice details, product information, and pricing data.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dataset consists of 5,41,909 rows and 8 columns, representing individual transaction-level records.Each row corresponds to a single product purchased within an invoice.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97157" y="701099"/>
            <a:ext cx="10180430" cy="113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94"/>
              </a:lnSpc>
              <a:spcBef>
                <a:spcPct val="0"/>
              </a:spcBef>
            </a:pPr>
            <a:r>
              <a:rPr lang="en-US" b="true" sz="10392" i="true" spc="-436">
                <a:solidFill>
                  <a:srgbClr val="000000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Over view of data 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1232" y="974264"/>
            <a:ext cx="5248277" cy="5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298" spc="-184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Fauget Skincare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0297" y="4424433"/>
            <a:ext cx="7130146" cy="6268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3983" indent="-286991" lvl="1">
              <a:lnSpc>
                <a:spcPts val="5556"/>
              </a:lnSpc>
              <a:buFont typeface="Arial"/>
              <a:buChar char="•"/>
            </a:pPr>
            <a:r>
              <a:rPr lang="en-US" sz="2658" spc="-1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InvoiceNo → Unique transaction ID</a:t>
            </a:r>
          </a:p>
          <a:p>
            <a:pPr algn="l" marL="573983" indent="-286991" lvl="1">
              <a:lnSpc>
                <a:spcPts val="5556"/>
              </a:lnSpc>
              <a:buFont typeface="Arial"/>
              <a:buChar char="•"/>
            </a:pPr>
            <a:r>
              <a:rPr lang="en-US" sz="2658" spc="-1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StockCode → Product code</a:t>
            </a:r>
          </a:p>
          <a:p>
            <a:pPr algn="l" marL="573983" indent="-286991" lvl="1">
              <a:lnSpc>
                <a:spcPts val="5556"/>
              </a:lnSpc>
              <a:buFont typeface="Arial"/>
              <a:buChar char="•"/>
            </a:pPr>
            <a:r>
              <a:rPr lang="en-US" sz="2658" spc="-1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Description → Product name</a:t>
            </a:r>
          </a:p>
          <a:p>
            <a:pPr algn="l" marL="573983" indent="-286991" lvl="1">
              <a:lnSpc>
                <a:spcPts val="5556"/>
              </a:lnSpc>
              <a:buFont typeface="Arial"/>
              <a:buChar char="•"/>
            </a:pPr>
            <a:r>
              <a:rPr lang="en-US" sz="2658" spc="-1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Quantity → Number of items purchased</a:t>
            </a:r>
          </a:p>
          <a:p>
            <a:pPr algn="l" marL="573983" indent="-286991" lvl="1">
              <a:lnSpc>
                <a:spcPts val="5556"/>
              </a:lnSpc>
              <a:buFont typeface="Arial"/>
              <a:buChar char="•"/>
            </a:pPr>
            <a:r>
              <a:rPr lang="en-US" sz="2658" spc="-1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InvoiceDate → Date of transaction</a:t>
            </a:r>
          </a:p>
          <a:p>
            <a:pPr algn="l" marL="573983" indent="-286991" lvl="1">
              <a:lnSpc>
                <a:spcPts val="5556"/>
              </a:lnSpc>
              <a:buFont typeface="Arial"/>
              <a:buChar char="•"/>
            </a:pPr>
            <a:r>
              <a:rPr lang="en-US" sz="2658" spc="-1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UnitPrice → Price per item</a:t>
            </a:r>
          </a:p>
          <a:p>
            <a:pPr algn="l" marL="573983" indent="-286991" lvl="1">
              <a:lnSpc>
                <a:spcPts val="5556"/>
              </a:lnSpc>
              <a:buFont typeface="Arial"/>
              <a:buChar char="•"/>
            </a:pPr>
            <a:r>
              <a:rPr lang="en-US" sz="2658" spc="-1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CustomerID → Unique customer identifier</a:t>
            </a:r>
          </a:p>
          <a:p>
            <a:pPr algn="l" marL="573983" indent="-286991" lvl="1">
              <a:lnSpc>
                <a:spcPts val="5556"/>
              </a:lnSpc>
              <a:buFont typeface="Arial"/>
              <a:buChar char="•"/>
            </a:pPr>
            <a:r>
              <a:rPr lang="en-US" sz="2658" spc="-1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Country → Customer location</a:t>
            </a:r>
          </a:p>
          <a:p>
            <a:pPr algn="l">
              <a:lnSpc>
                <a:spcPts val="555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685338" y="7645874"/>
            <a:ext cx="9376136" cy="111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658" spc="-13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*Here i delete some unnecessary column for my analysis</a:t>
            </a:r>
          </a:p>
          <a:p>
            <a:pPr algn="l">
              <a:lnSpc>
                <a:spcPts val="2924"/>
              </a:lnSpc>
            </a:pPr>
            <a:r>
              <a:rPr lang="en-US" b="true" sz="2658" spc="-1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and also create some columns for analysis like total_amount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816" y="1148806"/>
            <a:ext cx="513966" cy="300565"/>
          </a:xfrm>
          <a:custGeom>
            <a:avLst/>
            <a:gdLst/>
            <a:ahLst/>
            <a:cxnLst/>
            <a:rect r="r" b="b" t="t" l="l"/>
            <a:pathLst>
              <a:path h="300565" w="513966">
                <a:moveTo>
                  <a:pt x="0" y="0"/>
                </a:moveTo>
                <a:lnTo>
                  <a:pt x="513966" y="0"/>
                </a:lnTo>
                <a:lnTo>
                  <a:pt x="513966" y="300565"/>
                </a:lnTo>
                <a:lnTo>
                  <a:pt x="0" y="30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5987" y="1504389"/>
            <a:ext cx="16230600" cy="376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9"/>
              </a:lnSpc>
            </a:pPr>
            <a:r>
              <a:rPr lang="en-US" sz="3439" spc="-16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RFM Analysis?</a:t>
            </a:r>
          </a:p>
          <a:p>
            <a:pPr algn="l">
              <a:lnSpc>
                <a:spcPts val="5726"/>
              </a:lnSpc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RFM Analysis is a customer segmentation technique used to eva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luate customer behavior based on their purchasing pat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terns.</a:t>
            </a:r>
          </a:p>
          <a:p>
            <a:pPr algn="l">
              <a:lnSpc>
                <a:spcPts val="5726"/>
              </a:lnSpc>
            </a:pP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It helps businesses identify valuable customers and improve marketing strategies.</a:t>
            </a:r>
          </a:p>
          <a:p>
            <a:pPr algn="l">
              <a:lnSpc>
                <a:spcPts val="572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838345" y="799441"/>
            <a:ext cx="10180430" cy="113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94"/>
              </a:lnSpc>
              <a:spcBef>
                <a:spcPct val="0"/>
              </a:spcBef>
            </a:pPr>
            <a:r>
              <a:rPr lang="en-US" b="true" sz="10392" i="true" spc="-436">
                <a:solidFill>
                  <a:srgbClr val="000000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About RFM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81232" y="974264"/>
            <a:ext cx="5248277" cy="5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298" spc="-184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Fauget Skincare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562084"/>
            <a:ext cx="9964614" cy="270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– Recency : </a:t>
            </a: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recently a customer made a purchase</a:t>
            </a:r>
          </a:p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 – Frequency : How of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ten a customer makes purchases</a:t>
            </a:r>
          </a:p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 – Mon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etary : How much money a customer spends</a:t>
            </a:r>
          </a:p>
          <a:p>
            <a:pPr algn="l">
              <a:lnSpc>
                <a:spcPts val="426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85987" y="6950001"/>
            <a:ext cx="6638767" cy="2494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 of RFM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Identify high-value customers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 customer retention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Enable targeted marketing strategies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Increase overall revenue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816" y="1148806"/>
            <a:ext cx="513966" cy="300565"/>
          </a:xfrm>
          <a:custGeom>
            <a:avLst/>
            <a:gdLst/>
            <a:ahLst/>
            <a:cxnLst/>
            <a:rect r="r" b="b" t="t" l="l"/>
            <a:pathLst>
              <a:path h="300565" w="513966">
                <a:moveTo>
                  <a:pt x="0" y="0"/>
                </a:moveTo>
                <a:lnTo>
                  <a:pt x="513966" y="0"/>
                </a:lnTo>
                <a:lnTo>
                  <a:pt x="513966" y="300565"/>
                </a:lnTo>
                <a:lnTo>
                  <a:pt x="0" y="30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81863" y="2237426"/>
            <a:ext cx="4683706" cy="2300870"/>
          </a:xfrm>
          <a:custGeom>
            <a:avLst/>
            <a:gdLst/>
            <a:ahLst/>
            <a:cxnLst/>
            <a:rect r="r" b="b" t="t" l="l"/>
            <a:pathLst>
              <a:path h="2300870" w="4683706">
                <a:moveTo>
                  <a:pt x="0" y="0"/>
                </a:moveTo>
                <a:lnTo>
                  <a:pt x="4683706" y="0"/>
                </a:lnTo>
                <a:lnTo>
                  <a:pt x="4683706" y="2300870"/>
                </a:lnTo>
                <a:lnTo>
                  <a:pt x="0" y="23008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571278"/>
            <a:ext cx="12340806" cy="487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b="true" sz="2739" spc="-1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Sales:</a:t>
            </a: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business</a:t>
            </a: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generated approximately 8.3 million in total revenue from all transactions.</a:t>
            </a:r>
          </a:p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b="true" sz="2739" spc="-1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Quantity Sold</a:t>
            </a: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Around 4.9 million 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units of products were sold, indicating high transaction volume.</a:t>
            </a:r>
          </a:p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b="true" sz="2739" spc="-134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Daily Sal</a:t>
            </a:r>
            <a:r>
              <a:rPr lang="en-US" b="true" sz="2739" spc="-134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The business achieved an average of 405.67 sales per day, showing consistent sales performance.</a:t>
            </a:r>
          </a:p>
          <a:p>
            <a:pPr algn="l">
              <a:lnSpc>
                <a:spcPts val="4263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981863" y="5019973"/>
            <a:ext cx="3981332" cy="935613"/>
          </a:xfrm>
          <a:custGeom>
            <a:avLst/>
            <a:gdLst/>
            <a:ahLst/>
            <a:cxnLst/>
            <a:rect r="r" b="b" t="t" l="l"/>
            <a:pathLst>
              <a:path h="935613" w="3981332">
                <a:moveTo>
                  <a:pt x="0" y="0"/>
                </a:moveTo>
                <a:lnTo>
                  <a:pt x="3981332" y="0"/>
                </a:lnTo>
                <a:lnTo>
                  <a:pt x="3981332" y="935613"/>
                </a:lnTo>
                <a:lnTo>
                  <a:pt x="0" y="9356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981863" y="6441361"/>
            <a:ext cx="3981332" cy="3130322"/>
          </a:xfrm>
          <a:custGeom>
            <a:avLst/>
            <a:gdLst/>
            <a:ahLst/>
            <a:cxnLst/>
            <a:rect r="r" b="b" t="t" l="l"/>
            <a:pathLst>
              <a:path h="3130322" w="3981332">
                <a:moveTo>
                  <a:pt x="0" y="0"/>
                </a:moveTo>
                <a:lnTo>
                  <a:pt x="3981332" y="0"/>
                </a:lnTo>
                <a:lnTo>
                  <a:pt x="3981332" y="3130322"/>
                </a:lnTo>
                <a:lnTo>
                  <a:pt x="0" y="31303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7970987">
            <a:off x="14235189" y="5717015"/>
            <a:ext cx="617320" cy="596797"/>
          </a:xfrm>
          <a:custGeom>
            <a:avLst/>
            <a:gdLst/>
            <a:ahLst/>
            <a:cxnLst/>
            <a:rect r="r" b="b" t="t" l="l"/>
            <a:pathLst>
              <a:path h="596797" w="617320">
                <a:moveTo>
                  <a:pt x="0" y="0"/>
                </a:moveTo>
                <a:lnTo>
                  <a:pt x="617319" y="0"/>
                </a:lnTo>
                <a:lnTo>
                  <a:pt x="617319" y="596797"/>
                </a:lnTo>
                <a:lnTo>
                  <a:pt x="0" y="5967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69466" y="701099"/>
            <a:ext cx="10180430" cy="113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94"/>
              </a:lnSpc>
              <a:spcBef>
                <a:spcPct val="0"/>
              </a:spcBef>
            </a:pPr>
            <a:r>
              <a:rPr lang="en-US" b="true" sz="10392" i="true" spc="-436">
                <a:solidFill>
                  <a:srgbClr val="000000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1232" y="974264"/>
            <a:ext cx="5248277" cy="5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298" spc="-184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Fauget Skincare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3799" y="5746036"/>
            <a:ext cx="11490429" cy="476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8"/>
              </a:lnSpc>
            </a:pPr>
            <a:r>
              <a:rPr lang="en-US" sz="288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Monlthly sales</a:t>
            </a:r>
          </a:p>
          <a:p>
            <a:pPr algn="l" marL="622258" indent="-311129" lvl="1">
              <a:lnSpc>
                <a:spcPts val="5418"/>
              </a:lnSpc>
              <a:buFont typeface="Arial"/>
              <a:buChar char="•"/>
            </a:pPr>
            <a:r>
              <a:rPr lang="en-US" sz="28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8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ales show slow start with fluctuations in early months</a:t>
            </a:r>
          </a:p>
          <a:p>
            <a:pPr algn="l" marL="622258" indent="-311129" lvl="1">
              <a:lnSpc>
                <a:spcPts val="5418"/>
              </a:lnSpc>
              <a:buFont typeface="Arial"/>
              <a:buChar char="•"/>
            </a:pPr>
            <a:r>
              <a:rPr lang="en-US" sz="28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Significant growth and peak in the last quarter (especially November)</a:t>
            </a:r>
          </a:p>
          <a:p>
            <a:pPr algn="l" marL="622258" indent="-311129" lvl="1">
              <a:lnSpc>
                <a:spcPts val="5418"/>
              </a:lnSpc>
              <a:buFont typeface="Arial"/>
              <a:buChar char="•"/>
            </a:pPr>
            <a:r>
              <a:rPr lang="en-US" sz="28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Slight decline after peak, indicating seasonal demand pattern</a:t>
            </a:r>
          </a:p>
          <a:p>
            <a:pPr algn="l">
              <a:lnSpc>
                <a:spcPts val="541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816" y="1148806"/>
            <a:ext cx="513966" cy="300565"/>
          </a:xfrm>
          <a:custGeom>
            <a:avLst/>
            <a:gdLst/>
            <a:ahLst/>
            <a:cxnLst/>
            <a:rect r="r" b="b" t="t" l="l"/>
            <a:pathLst>
              <a:path h="300565" w="513966">
                <a:moveTo>
                  <a:pt x="0" y="0"/>
                </a:moveTo>
                <a:lnTo>
                  <a:pt x="513966" y="0"/>
                </a:lnTo>
                <a:lnTo>
                  <a:pt x="513966" y="300565"/>
                </a:lnTo>
                <a:lnTo>
                  <a:pt x="0" y="30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938596">
            <a:off x="13067728" y="2438661"/>
            <a:ext cx="617320" cy="596797"/>
          </a:xfrm>
          <a:custGeom>
            <a:avLst/>
            <a:gdLst/>
            <a:ahLst/>
            <a:cxnLst/>
            <a:rect r="r" b="b" t="t" l="l"/>
            <a:pathLst>
              <a:path h="596797" w="617320">
                <a:moveTo>
                  <a:pt x="0" y="0"/>
                </a:moveTo>
                <a:lnTo>
                  <a:pt x="617320" y="0"/>
                </a:lnTo>
                <a:lnTo>
                  <a:pt x="617320" y="596797"/>
                </a:lnTo>
                <a:lnTo>
                  <a:pt x="0" y="596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76388" y="5309667"/>
            <a:ext cx="3489455" cy="3851201"/>
          </a:xfrm>
          <a:custGeom>
            <a:avLst/>
            <a:gdLst/>
            <a:ahLst/>
            <a:cxnLst/>
            <a:rect r="r" b="b" t="t" l="l"/>
            <a:pathLst>
              <a:path h="3851201" w="3489455">
                <a:moveTo>
                  <a:pt x="0" y="0"/>
                </a:moveTo>
                <a:lnTo>
                  <a:pt x="3489455" y="0"/>
                </a:lnTo>
                <a:lnTo>
                  <a:pt x="3489455" y="3851201"/>
                </a:lnTo>
                <a:lnTo>
                  <a:pt x="0" y="3851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61069" y="1837978"/>
            <a:ext cx="2676473" cy="1244895"/>
          </a:xfrm>
          <a:custGeom>
            <a:avLst/>
            <a:gdLst/>
            <a:ahLst/>
            <a:cxnLst/>
            <a:rect r="r" b="b" t="t" l="l"/>
            <a:pathLst>
              <a:path h="1244895" w="2676473">
                <a:moveTo>
                  <a:pt x="0" y="0"/>
                </a:moveTo>
                <a:lnTo>
                  <a:pt x="2676473" y="0"/>
                </a:lnTo>
                <a:lnTo>
                  <a:pt x="2676473" y="1244895"/>
                </a:lnTo>
                <a:lnTo>
                  <a:pt x="0" y="12448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51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76388" y="3126131"/>
            <a:ext cx="4213488" cy="1817067"/>
          </a:xfrm>
          <a:custGeom>
            <a:avLst/>
            <a:gdLst/>
            <a:ahLst/>
            <a:cxnLst/>
            <a:rect r="r" b="b" t="t" l="l"/>
            <a:pathLst>
              <a:path h="1817067" w="4213488">
                <a:moveTo>
                  <a:pt x="0" y="0"/>
                </a:moveTo>
                <a:lnTo>
                  <a:pt x="4213488" y="0"/>
                </a:lnTo>
                <a:lnTo>
                  <a:pt x="4213488" y="1817067"/>
                </a:lnTo>
                <a:lnTo>
                  <a:pt x="0" y="18170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06816" y="1471790"/>
            <a:ext cx="10407777" cy="347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4"/>
              </a:lnSpc>
            </a:pPr>
            <a:r>
              <a:rPr lang="en-US" sz="2939" spc="-14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Country wise sales</a:t>
            </a:r>
          </a:p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UK is</a:t>
            </a: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primary revenue driver (~6.7M sales)</a:t>
            </a:r>
          </a:p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ther co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untries contribute minimal share (&lt;300K 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each)</a:t>
            </a:r>
          </a:p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is highly dependent on one market (UK)</a:t>
            </a:r>
          </a:p>
          <a:p>
            <a:pPr algn="l">
              <a:lnSpc>
                <a:spcPts val="426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405371" y="701099"/>
            <a:ext cx="10180430" cy="113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94"/>
              </a:lnSpc>
              <a:spcBef>
                <a:spcPct val="0"/>
              </a:spcBef>
            </a:pPr>
            <a:r>
              <a:rPr lang="en-US" b="true" sz="10392" i="true" spc="-436">
                <a:solidFill>
                  <a:srgbClr val="000000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Customer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1232" y="974264"/>
            <a:ext cx="5248277" cy="5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298" spc="-184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Fauget Skincare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6816" y="4886048"/>
            <a:ext cx="12030726" cy="427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Majority of customers are valid (98.9%)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Almost all customers contribute positive revenue, indicating a strong and healthy customer base.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Very small portion are net returners (1.1%)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Customers with zero or negative total amount are minimal, showing low return/refund impact on overall business.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Revenue loss from returns is negligible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Since net returners are very few, their effect on total revenue is insignificant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816" y="1148806"/>
            <a:ext cx="513966" cy="300565"/>
          </a:xfrm>
          <a:custGeom>
            <a:avLst/>
            <a:gdLst/>
            <a:ahLst/>
            <a:cxnLst/>
            <a:rect r="r" b="b" t="t" l="l"/>
            <a:pathLst>
              <a:path h="300565" w="513966">
                <a:moveTo>
                  <a:pt x="0" y="0"/>
                </a:moveTo>
                <a:lnTo>
                  <a:pt x="513966" y="0"/>
                </a:lnTo>
                <a:lnTo>
                  <a:pt x="513966" y="300565"/>
                </a:lnTo>
                <a:lnTo>
                  <a:pt x="0" y="30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97381" y="2836977"/>
            <a:ext cx="4883989" cy="2106220"/>
          </a:xfrm>
          <a:custGeom>
            <a:avLst/>
            <a:gdLst/>
            <a:ahLst/>
            <a:cxnLst/>
            <a:rect r="r" b="b" t="t" l="l"/>
            <a:pathLst>
              <a:path h="2106220" w="4883989">
                <a:moveTo>
                  <a:pt x="0" y="0"/>
                </a:moveTo>
                <a:lnTo>
                  <a:pt x="4883989" y="0"/>
                </a:lnTo>
                <a:lnTo>
                  <a:pt x="4883989" y="2106221"/>
                </a:lnTo>
                <a:lnTo>
                  <a:pt x="0" y="2106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2047" y="1748015"/>
            <a:ext cx="3995495" cy="903981"/>
          </a:xfrm>
          <a:custGeom>
            <a:avLst/>
            <a:gdLst/>
            <a:ahLst/>
            <a:cxnLst/>
            <a:rect r="r" b="b" t="t" l="l"/>
            <a:pathLst>
              <a:path h="903981" w="3995495">
                <a:moveTo>
                  <a:pt x="0" y="0"/>
                </a:moveTo>
                <a:lnTo>
                  <a:pt x="3995495" y="0"/>
                </a:lnTo>
                <a:lnTo>
                  <a:pt x="3995495" y="903981"/>
                </a:lnTo>
                <a:lnTo>
                  <a:pt x="0" y="9039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19673" y="1971627"/>
            <a:ext cx="1654577" cy="165458"/>
          </a:xfrm>
          <a:custGeom>
            <a:avLst/>
            <a:gdLst/>
            <a:ahLst/>
            <a:cxnLst/>
            <a:rect r="r" b="b" t="t" l="l"/>
            <a:pathLst>
              <a:path h="165458" w="1654577">
                <a:moveTo>
                  <a:pt x="0" y="0"/>
                </a:moveTo>
                <a:lnTo>
                  <a:pt x="1654577" y="0"/>
                </a:lnTo>
                <a:lnTo>
                  <a:pt x="1654577" y="165457"/>
                </a:lnTo>
                <a:lnTo>
                  <a:pt x="0" y="1654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5433850" y="2147982"/>
            <a:ext cx="1333931" cy="133393"/>
          </a:xfrm>
          <a:custGeom>
            <a:avLst/>
            <a:gdLst/>
            <a:ahLst/>
            <a:cxnLst/>
            <a:rect r="r" b="b" t="t" l="l"/>
            <a:pathLst>
              <a:path h="133393" w="1333931">
                <a:moveTo>
                  <a:pt x="0" y="0"/>
                </a:moveTo>
                <a:lnTo>
                  <a:pt x="1333932" y="0"/>
                </a:lnTo>
                <a:lnTo>
                  <a:pt x="1333932" y="133393"/>
                </a:lnTo>
                <a:lnTo>
                  <a:pt x="0" y="1333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34215" y="1268127"/>
            <a:ext cx="2464224" cy="1139704"/>
          </a:xfrm>
          <a:custGeom>
            <a:avLst/>
            <a:gdLst/>
            <a:ahLst/>
            <a:cxnLst/>
            <a:rect r="r" b="b" t="t" l="l"/>
            <a:pathLst>
              <a:path h="1139704" w="2464224">
                <a:moveTo>
                  <a:pt x="0" y="0"/>
                </a:moveTo>
                <a:lnTo>
                  <a:pt x="2464224" y="0"/>
                </a:lnTo>
                <a:lnTo>
                  <a:pt x="2464224" y="1139703"/>
                </a:lnTo>
                <a:lnTo>
                  <a:pt x="0" y="11397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97381" y="5143500"/>
            <a:ext cx="4883989" cy="4303584"/>
          </a:xfrm>
          <a:custGeom>
            <a:avLst/>
            <a:gdLst/>
            <a:ahLst/>
            <a:cxnLst/>
            <a:rect r="r" b="b" t="t" l="l"/>
            <a:pathLst>
              <a:path h="4303584" w="4883989">
                <a:moveTo>
                  <a:pt x="0" y="0"/>
                </a:moveTo>
                <a:lnTo>
                  <a:pt x="4883989" y="0"/>
                </a:lnTo>
                <a:lnTo>
                  <a:pt x="4883989" y="4303584"/>
                </a:lnTo>
                <a:lnTo>
                  <a:pt x="0" y="43035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221" t="-1675" r="-2625" b="-194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106816" y="4886048"/>
            <a:ext cx="11184411" cy="475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Majority of customers are Low Value (1914 customers)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Indicates a large portion of customers have low engagement, low spending, or are inactive.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Value customers (1275) form a strong core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 customers contribute significantly to revenue and show loyal and consistent behavior.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Mid Value customers (1133) represent growth opportunity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the right strategy, they can be converted into high-value customers.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06816" y="1672092"/>
            <a:ext cx="10407777" cy="347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4"/>
              </a:lnSpc>
            </a:pPr>
            <a:r>
              <a:rPr lang="en-US" sz="2939" spc="-14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Creating the main rfm data set</a:t>
            </a:r>
          </a:p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UK is</a:t>
            </a: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primary revenue driver (~6.7M sales)</a:t>
            </a:r>
          </a:p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ther co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untries contribute minimal share (&lt;300K 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each)</a:t>
            </a:r>
          </a:p>
          <a:p>
            <a:pPr algn="l" marL="591561" indent="-295780" lvl="1">
              <a:lnSpc>
                <a:spcPts val="5726"/>
              </a:lnSpc>
              <a:buFont typeface="Arial"/>
              <a:buChar char="•"/>
            </a:pP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is highly dependent on one market (UK)</a:t>
            </a:r>
          </a:p>
          <a:p>
            <a:pPr algn="l">
              <a:lnSpc>
                <a:spcPts val="426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053785" y="701099"/>
            <a:ext cx="10180430" cy="113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94"/>
              </a:lnSpc>
              <a:spcBef>
                <a:spcPct val="0"/>
              </a:spcBef>
            </a:pPr>
            <a:r>
              <a:rPr lang="en-US" b="true" sz="10392" i="true" spc="-436">
                <a:solidFill>
                  <a:srgbClr val="000000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Customer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1232" y="974264"/>
            <a:ext cx="5248277" cy="5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298" spc="-184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Fauget Skincare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816" y="1148806"/>
            <a:ext cx="513966" cy="300565"/>
          </a:xfrm>
          <a:custGeom>
            <a:avLst/>
            <a:gdLst/>
            <a:ahLst/>
            <a:cxnLst/>
            <a:rect r="r" b="b" t="t" l="l"/>
            <a:pathLst>
              <a:path h="300565" w="513966">
                <a:moveTo>
                  <a:pt x="0" y="0"/>
                </a:moveTo>
                <a:lnTo>
                  <a:pt x="513966" y="0"/>
                </a:lnTo>
                <a:lnTo>
                  <a:pt x="513966" y="300565"/>
                </a:lnTo>
                <a:lnTo>
                  <a:pt x="0" y="30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2640" y="1807823"/>
            <a:ext cx="12433738" cy="787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4740" indent="-317370" lvl="1">
              <a:lnSpc>
                <a:spcPts val="4909"/>
              </a:lnSpc>
              <a:buFont typeface="Arial"/>
              <a:buChar char="•"/>
            </a:pPr>
            <a:r>
              <a:rPr lang="en-US" b="true" sz="2939" spc="-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United Kingdom ranks highest in ALL customer segments</a:t>
            </a:r>
          </a:p>
          <a:p>
            <a:pPr algn="l">
              <a:lnSpc>
                <a:spcPts val="4909"/>
              </a:lnSpc>
            </a:pPr>
            <a:r>
              <a:rPr lang="en-US" sz="2939" spc="-1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leads in Low, Mid, and High Value customers, confirming it is the primary market across all customer types.</a:t>
            </a:r>
          </a:p>
          <a:p>
            <a:pPr algn="l" marL="634740" indent="-317370" lvl="1">
              <a:lnSpc>
                <a:spcPts val="4909"/>
              </a:lnSpc>
              <a:buFont typeface="Arial"/>
              <a:buChar char="•"/>
            </a:pPr>
            <a:r>
              <a:rPr lang="en-US" b="true" sz="2939" spc="-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Low Value customers are heavily concentrated in the </a:t>
            </a:r>
            <a:r>
              <a:rPr lang="en-US" b="true" sz="2939" spc="-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UK</a:t>
            </a:r>
          </a:p>
          <a:p>
            <a:pPr algn="l">
              <a:lnSpc>
                <a:spcPts val="4909"/>
              </a:lnSpc>
            </a:pPr>
            <a:r>
              <a:rPr lang="en-US" sz="2939" spc="-1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With 1743 customers, the UK has</a:t>
            </a:r>
            <a:r>
              <a:rPr lang="en-US" sz="2939" spc="-1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largest base of low-value users, indicating a major opportunity for conversion and upselling.</a:t>
            </a:r>
          </a:p>
          <a:p>
            <a:pPr algn="l" marL="634740" indent="-317370" lvl="1">
              <a:lnSpc>
                <a:spcPts val="4909"/>
              </a:lnSpc>
              <a:buFont typeface="Arial"/>
              <a:buChar char="•"/>
            </a:pPr>
            <a:r>
              <a:rPr lang="en-US" b="true" sz="2939" spc="-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 Value customers are also strongest in the UK (1148 customers)</a:t>
            </a:r>
          </a:p>
          <a:p>
            <a:pPr algn="l">
              <a:lnSpc>
                <a:spcPts val="4909"/>
              </a:lnSpc>
            </a:pPr>
            <a:r>
              <a:rPr lang="en-US" sz="2939" spc="-1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shows the UK is not only large in size but also drives the most valuable and loyal customers.</a:t>
            </a:r>
          </a:p>
          <a:p>
            <a:pPr algn="l" marL="634740" indent="-317370" lvl="1">
              <a:lnSpc>
                <a:spcPts val="4909"/>
              </a:lnSpc>
              <a:buFont typeface="Arial"/>
              <a:buChar char="•"/>
            </a:pPr>
            <a:r>
              <a:rPr lang="en-US" b="true" sz="2939" spc="-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2939" spc="-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ther co</a:t>
            </a:r>
            <a:r>
              <a:rPr lang="en-US" b="true" sz="2939" spc="-144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untries appear consistently but at much lower volumes</a:t>
            </a:r>
          </a:p>
          <a:p>
            <a:pPr algn="l">
              <a:lnSpc>
                <a:spcPts val="4909"/>
              </a:lnSpc>
            </a:pPr>
            <a:r>
              <a:rPr lang="en-US" sz="2939" spc="-1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Countries like Germany, France, Spain app</a:t>
            </a:r>
            <a:r>
              <a:rPr lang="en-US" sz="2939" spc="-14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ear across segments, but their contribution is significantly smaller, indicating limited scale outside the UK.</a:t>
            </a:r>
          </a:p>
          <a:p>
            <a:pPr algn="l">
              <a:lnSpc>
                <a:spcPts val="340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246378" y="3019430"/>
            <a:ext cx="4263020" cy="4248140"/>
          </a:xfrm>
          <a:custGeom>
            <a:avLst/>
            <a:gdLst/>
            <a:ahLst/>
            <a:cxnLst/>
            <a:rect r="r" b="b" t="t" l="l"/>
            <a:pathLst>
              <a:path h="4248140" w="4263020">
                <a:moveTo>
                  <a:pt x="0" y="0"/>
                </a:moveTo>
                <a:lnTo>
                  <a:pt x="4263020" y="0"/>
                </a:lnTo>
                <a:lnTo>
                  <a:pt x="4263020" y="4248140"/>
                </a:lnTo>
                <a:lnTo>
                  <a:pt x="0" y="4248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4405371" y="701099"/>
            <a:ext cx="10180430" cy="113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94"/>
              </a:lnSpc>
              <a:spcBef>
                <a:spcPct val="0"/>
              </a:spcBef>
            </a:pPr>
            <a:r>
              <a:rPr lang="en-US" b="true" sz="10392" i="true" spc="-436">
                <a:solidFill>
                  <a:srgbClr val="000000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Customer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1232" y="974264"/>
            <a:ext cx="5248277" cy="5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298" spc="-184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Fauget Skincare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816" y="878417"/>
            <a:ext cx="513966" cy="300565"/>
          </a:xfrm>
          <a:custGeom>
            <a:avLst/>
            <a:gdLst/>
            <a:ahLst/>
            <a:cxnLst/>
            <a:rect r="r" b="b" t="t" l="l"/>
            <a:pathLst>
              <a:path h="300565" w="513966">
                <a:moveTo>
                  <a:pt x="0" y="0"/>
                </a:moveTo>
                <a:lnTo>
                  <a:pt x="513966" y="0"/>
                </a:lnTo>
                <a:lnTo>
                  <a:pt x="513966" y="300566"/>
                </a:lnTo>
                <a:lnTo>
                  <a:pt x="0" y="300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06816" y="1345899"/>
            <a:ext cx="16732727" cy="911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561" indent="-295780" lvl="1">
              <a:lnSpc>
                <a:spcPts val="4575"/>
              </a:lnSpc>
              <a:buFont typeface="Arial"/>
              <a:buChar char="•"/>
            </a:pPr>
            <a:r>
              <a:rPr lang="en-US" b="true" sz="2739" spc="-1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Retain High Value Customers (UK Focus)</a:t>
            </a:r>
          </a:p>
          <a:p>
            <a:pPr algn="l">
              <a:lnSpc>
                <a:spcPts val="4575"/>
              </a:lnSpc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 loyalty programs, exclusive offers, and premium services to maximize lifetime value and retention.</a:t>
            </a:r>
          </a:p>
          <a:p>
            <a:pPr algn="l" marL="591561" indent="-295780" lvl="1">
              <a:lnSpc>
                <a:spcPts val="4575"/>
              </a:lnSpc>
              <a:buFont typeface="Arial"/>
              <a:buChar char="•"/>
            </a:pPr>
            <a:r>
              <a:rPr lang="en-US" b="true" sz="2739" spc="-1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Convert Low Value Customers into High Value (UK Opportunity)</a:t>
            </a:r>
          </a:p>
          <a:p>
            <a:pPr algn="l">
              <a:lnSpc>
                <a:spcPts val="4575"/>
              </a:lnSpc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personalized promotions, discounts, and targeted campaigns to </a:t>
            </a: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increase purchase frequency and spending.</a:t>
            </a:r>
          </a:p>
          <a:p>
            <a:pPr algn="l" marL="591561" indent="-295780" lvl="1">
              <a:lnSpc>
                <a:spcPts val="4575"/>
              </a:lnSpc>
              <a:buFont typeface="Arial"/>
              <a:buChar char="•"/>
            </a:pPr>
            <a:r>
              <a:rPr lang="en-US" b="true" sz="2739" spc="-1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Re-engage Inactive / Low Recency Customers</a:t>
            </a:r>
          </a:p>
          <a:p>
            <a:pPr algn="l">
              <a:lnSpc>
                <a:spcPts val="4575"/>
              </a:lnSpc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Launch email campaigns, reminders, and special offers to reduce churn and bring customers back.</a:t>
            </a:r>
          </a:p>
          <a:p>
            <a:pPr algn="l" marL="591561" indent="-295780" lvl="1">
              <a:lnSpc>
                <a:spcPts val="4575"/>
              </a:lnSpc>
              <a:buFont typeface="Arial"/>
              <a:buChar char="•"/>
            </a:pPr>
            <a:r>
              <a:rPr lang="en-US" b="true" sz="2739" spc="-1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Upsell &amp; Cross-sell to Mid Value Customers</a:t>
            </a:r>
          </a:p>
          <a:p>
            <a:pPr algn="l">
              <a:lnSpc>
                <a:spcPts val="4575"/>
              </a:lnSpc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Recommend complementary products and bundle offers to increase average order value.</a:t>
            </a:r>
          </a:p>
          <a:p>
            <a:pPr algn="l" marL="591561" indent="-295780" lvl="1">
              <a:lnSpc>
                <a:spcPts val="4575"/>
              </a:lnSpc>
              <a:buFont typeface="Arial"/>
              <a:buChar char="•"/>
            </a:pPr>
            <a:r>
              <a:rPr lang="en-US" b="true" sz="2739" spc="-1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Expand International Presence</a:t>
            </a:r>
          </a:p>
          <a:p>
            <a:pPr algn="l">
              <a:lnSpc>
                <a:spcPts val="4575"/>
              </a:lnSpc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ncrease marketing efforts in countries like Germany, France, and Spain to grow customer base outside the UK.</a:t>
            </a:r>
          </a:p>
          <a:p>
            <a:pPr algn="l" marL="591561" indent="-295780" lvl="1">
              <a:lnSpc>
                <a:spcPts val="4575"/>
              </a:lnSpc>
              <a:buFont typeface="Arial"/>
              <a:buChar char="•"/>
            </a:pPr>
            <a:r>
              <a:rPr lang="en-US" b="true" sz="2739" spc="-134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Reduce Dep</a:t>
            </a:r>
            <a:r>
              <a:rPr lang="en-US" b="true" sz="2739" spc="-134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endency on UK Market</a:t>
            </a:r>
          </a:p>
          <a:p>
            <a:pPr algn="l">
              <a:lnSpc>
                <a:spcPts val="4575"/>
              </a:lnSpc>
            </a:pP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Diversify geographically to minimize business risk and ensure stable revenue streams.</a:t>
            </a:r>
          </a:p>
          <a:p>
            <a:pPr algn="l">
              <a:lnSpc>
                <a:spcPts val="307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695918" y="438150"/>
            <a:ext cx="9554523" cy="113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94"/>
              </a:lnSpc>
              <a:spcBef>
                <a:spcPct val="0"/>
              </a:spcBef>
            </a:pPr>
            <a:r>
              <a:rPr lang="en-US" b="true" sz="10392" i="true" spc="-436">
                <a:solidFill>
                  <a:srgbClr val="000000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 Recommendations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80059" y="703876"/>
            <a:ext cx="5248277" cy="5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298" spc="-184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Fauget Skincare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816" y="878417"/>
            <a:ext cx="513966" cy="300565"/>
          </a:xfrm>
          <a:custGeom>
            <a:avLst/>
            <a:gdLst/>
            <a:ahLst/>
            <a:cxnLst/>
            <a:rect r="r" b="b" t="t" l="l"/>
            <a:pathLst>
              <a:path h="300565" w="513966">
                <a:moveTo>
                  <a:pt x="0" y="0"/>
                </a:moveTo>
                <a:lnTo>
                  <a:pt x="513966" y="0"/>
                </a:lnTo>
                <a:lnTo>
                  <a:pt x="513966" y="300566"/>
                </a:lnTo>
                <a:lnTo>
                  <a:pt x="0" y="300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44451" y="5373375"/>
            <a:ext cx="8195092" cy="3012319"/>
          </a:xfrm>
          <a:custGeom>
            <a:avLst/>
            <a:gdLst/>
            <a:ahLst/>
            <a:cxnLst/>
            <a:rect r="r" b="b" t="t" l="l"/>
            <a:pathLst>
              <a:path h="3012319" w="8195092">
                <a:moveTo>
                  <a:pt x="0" y="0"/>
                </a:moveTo>
                <a:lnTo>
                  <a:pt x="8195092" y="0"/>
                </a:lnTo>
                <a:lnTo>
                  <a:pt x="8195092" y="3012319"/>
                </a:lnTo>
                <a:lnTo>
                  <a:pt x="0" y="3012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51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79605">
            <a:off x="8132801" y="5741103"/>
            <a:ext cx="1300329" cy="1257100"/>
          </a:xfrm>
          <a:custGeom>
            <a:avLst/>
            <a:gdLst/>
            <a:ahLst/>
            <a:cxnLst/>
            <a:rect r="r" b="b" t="t" l="l"/>
            <a:pathLst>
              <a:path h="1257100" w="1300329">
                <a:moveTo>
                  <a:pt x="0" y="0"/>
                </a:moveTo>
                <a:lnTo>
                  <a:pt x="1300330" y="0"/>
                </a:lnTo>
                <a:lnTo>
                  <a:pt x="1300330" y="1257101"/>
                </a:lnTo>
                <a:lnTo>
                  <a:pt x="0" y="12571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06816" y="5299594"/>
            <a:ext cx="7676150" cy="2952245"/>
            <a:chOff x="0" y="0"/>
            <a:chExt cx="2021702" cy="7775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21702" cy="777546"/>
            </a:xfrm>
            <a:custGeom>
              <a:avLst/>
              <a:gdLst/>
              <a:ahLst/>
              <a:cxnLst/>
              <a:rect r="r" b="b" t="t" l="l"/>
              <a:pathLst>
                <a:path h="777546" w="2021702">
                  <a:moveTo>
                    <a:pt x="0" y="0"/>
                  </a:moveTo>
                  <a:lnTo>
                    <a:pt x="2021702" y="0"/>
                  </a:lnTo>
                  <a:lnTo>
                    <a:pt x="2021702" y="777546"/>
                  </a:lnTo>
                  <a:lnTo>
                    <a:pt x="0" y="777546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21702" cy="815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06816" y="1757680"/>
            <a:ext cx="16732727" cy="272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561" indent="-295780" lvl="1">
              <a:lnSpc>
                <a:spcPts val="4575"/>
              </a:lnSpc>
              <a:buFont typeface="Arial"/>
              <a:buChar char="•"/>
            </a:pPr>
            <a:r>
              <a:rPr lang="en-US" b="true" sz="2739" spc="-1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Leverage Data-Driven Marketing</a:t>
            </a:r>
          </a:p>
          <a:p>
            <a:pPr algn="l">
              <a:lnSpc>
                <a:spcPts val="4575"/>
              </a:lnSpc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 RFM segmentation for targeted campaigns to </a:t>
            </a: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ROI and campaign </a:t>
            </a: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effectiveness.</a:t>
            </a:r>
          </a:p>
          <a:p>
            <a:pPr algn="l" marL="591561" indent="-295780" lvl="1">
              <a:lnSpc>
                <a:spcPts val="4575"/>
              </a:lnSpc>
              <a:buFont typeface="Arial"/>
              <a:buChar char="•"/>
            </a:pPr>
            <a:r>
              <a:rPr lang="en-US" b="true" sz="2739" spc="-13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Optimize Product &amp; Customer Experience</a:t>
            </a:r>
          </a:p>
          <a:p>
            <a:pPr algn="l">
              <a:lnSpc>
                <a:spcPts val="4575"/>
              </a:lnSpc>
            </a:pPr>
            <a:r>
              <a:rPr lang="en-US" sz="2739" spc="-1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product quality, descriptions, and delivery experience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 reduce returns and increase s</a:t>
            </a:r>
            <a:r>
              <a:rPr lang="en-US" sz="2739" spc="-134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atisfaction.</a:t>
            </a:r>
          </a:p>
          <a:p>
            <a:pPr algn="l">
              <a:lnSpc>
                <a:spcPts val="307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366738" y="569920"/>
            <a:ext cx="9554523" cy="113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94"/>
              </a:lnSpc>
              <a:spcBef>
                <a:spcPct val="0"/>
              </a:spcBef>
            </a:pPr>
            <a:r>
              <a:rPr lang="en-US" b="true" sz="10392" i="true" spc="-436">
                <a:solidFill>
                  <a:srgbClr val="000000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0059" y="703876"/>
            <a:ext cx="5248277" cy="5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298" spc="-184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Fauget Skincare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0782" y="5525285"/>
            <a:ext cx="7031176" cy="231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5"/>
              </a:lnSpc>
            </a:pPr>
            <a:r>
              <a:rPr lang="en-US" sz="2739" i="true" spc="-13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Additionally, I ensure that the RFM data is extracted as a CSV file, providing management with the necessary dataset for future reference.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4740" y="4627086"/>
            <a:ext cx="10033110" cy="364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8"/>
              </a:lnSpc>
            </a:pPr>
            <a:r>
              <a:rPr lang="en-US" sz="17744" spc="-745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Thank</a:t>
            </a:r>
          </a:p>
          <a:p>
            <a:pPr algn="l">
              <a:lnSpc>
                <a:spcPts val="13308"/>
              </a:lnSpc>
            </a:pPr>
            <a:r>
              <a:rPr lang="en-US" sz="17744" spc="-745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You.</a:t>
            </a:r>
          </a:p>
        </p:txBody>
      </p:sp>
      <p:sp>
        <p:nvSpPr>
          <p:cNvPr name="AutoShape 3" id="3"/>
          <p:cNvSpPr/>
          <p:nvPr/>
        </p:nvSpPr>
        <p:spPr>
          <a:xfrm>
            <a:off x="1164740" y="8203983"/>
            <a:ext cx="8410705" cy="0"/>
          </a:xfrm>
          <a:prstGeom prst="line">
            <a:avLst/>
          </a:prstGeom>
          <a:ln cap="flat" w="38100">
            <a:solidFill>
              <a:srgbClr val="2E40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64740" y="8914971"/>
            <a:ext cx="8410705" cy="0"/>
          </a:xfrm>
          <a:prstGeom prst="line">
            <a:avLst/>
          </a:prstGeom>
          <a:ln cap="flat" w="38100">
            <a:solidFill>
              <a:srgbClr val="2E40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164740" y="8251443"/>
            <a:ext cx="9417675" cy="57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17"/>
              </a:lnSpc>
              <a:spcBef>
                <a:spcPct val="0"/>
              </a:spcBef>
            </a:pPr>
            <a:r>
              <a:rPr lang="en-US" b="true" sz="3298" spc="-184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By Niloy Saha       Email : nsaha3827@gmail.com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06816" y="1148806"/>
            <a:ext cx="513966" cy="300565"/>
          </a:xfrm>
          <a:custGeom>
            <a:avLst/>
            <a:gdLst/>
            <a:ahLst/>
            <a:cxnLst/>
            <a:rect r="r" b="b" t="t" l="l"/>
            <a:pathLst>
              <a:path h="300565" w="513966">
                <a:moveTo>
                  <a:pt x="0" y="0"/>
                </a:moveTo>
                <a:lnTo>
                  <a:pt x="513966" y="0"/>
                </a:lnTo>
                <a:lnTo>
                  <a:pt x="513966" y="300565"/>
                </a:lnTo>
                <a:lnTo>
                  <a:pt x="0" y="30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1232" y="974264"/>
            <a:ext cx="5248277" cy="5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298" spc="-184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Fauget Skincare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504956" y="914374"/>
            <a:ext cx="14268114" cy="8343926"/>
          </a:xfrm>
          <a:custGeom>
            <a:avLst/>
            <a:gdLst/>
            <a:ahLst/>
            <a:cxnLst/>
            <a:rect r="r" b="b" t="t" l="l"/>
            <a:pathLst>
              <a:path h="8343926" w="14268114">
                <a:moveTo>
                  <a:pt x="0" y="0"/>
                </a:moveTo>
                <a:lnTo>
                  <a:pt x="14268114" y="0"/>
                </a:lnTo>
                <a:lnTo>
                  <a:pt x="14268114" y="8343926"/>
                </a:lnTo>
                <a:lnTo>
                  <a:pt x="0" y="8343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DAHHjPEMDa0</dc:identifier>
  <dcterms:modified xsi:type="dcterms:W3CDTF">2011-08-01T06:04:30Z</dcterms:modified>
  <cp:revision>1</cp:revision>
  <dc:title>Neutral Minimalist Brand Guidelines Presentation</dc:title>
</cp:coreProperties>
</file>